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Legitimate vs. Fraudulent Transactions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F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F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9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Fraud-Class Precision &amp; Recall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Precision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A9D7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F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Precision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94</c:v>
                </c:pt>
                <c:pt idx="1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F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F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F4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840480" cy="3840480"/>
          </a:xfrm>
          <a:prstGeom prst="ellipse">
            <a:avLst/>
          </a:prstGeom>
          <a:ln w="15875">
            <a:solidFill>
              <a:srgbClr val="CADCF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424160" y="91440"/>
            <a:ext cx="2377440" cy="2377440"/>
          </a:xfrm>
          <a:prstGeom prst="ellipse">
            <a:avLst/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9601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 •  DATA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machine-learning pipeline to catch fraudulent transactions in a highly imbalanced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Singh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/ Machine Learning   •   Dataset: Kaggle mlg-ulb/creditcardfraud   • 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fraud detection is a hard, imbalanced classification challenge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856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313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anonymized transactions, only 0.17% fraudulent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1856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58200" y="2313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6243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trained, evaluated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30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988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Random Forest, head to head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730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4988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wins, and why it matters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58200" y="3730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B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58200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44988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how the project could improve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Rare — and That's What Makes It Hard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fraud model must catch fraudulent transactions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recall)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false alarms on real customers low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precision).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accuracy is a trap here: a model that labels every transaction "legitimate" would still be right 99.8% of the time — and would catch zero fraud.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166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 &amp; recall, not accuracy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 least two classification models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a final model choice with evidence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JUST GUESSED "LEGITIMATE" EVERY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40080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while missing every single fraud case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4434840"/>
            <a:ext cx="4389120" cy="0"/>
          </a:xfrm>
          <a:prstGeom prst="line">
            <a:avLst/>
          </a:prstGeom>
          <a:noFill/>
          <a:ln w="12700">
            <a:solidFill>
              <a:srgbClr val="D5DB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663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project centers evaluation on precision and recall for the fraud class instead.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 Transactions. One Very Rare Signal.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(30 features + target)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5508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(0.17%)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8972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MAKEUP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since first transaction — dropped before modeling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– V28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434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PCA-transformed features (identity protected)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920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892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value, up to ~$25,000 — rescaled before modeling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49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349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0 = legitimate, 1 = fraud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40880" y="3611880"/>
            <a:ext cx="4526280" cy="2697480"/>
          </a:xfrm>
          <a:prstGeom prst="roundRect">
            <a:avLst>
              <a:gd name="adj" fmla="val 3390"/>
            </a:avLst>
          </a:prstGeom>
          <a:solidFill>
            <a:srgbClr val="141B4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($)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92640" y="4892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$22.00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15200" y="5486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264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$88.35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Severely Imbalanced Target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F6F8FC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52360" y="21488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578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45236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is fraudulent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52360" y="3611880"/>
            <a:ext cx="3886200" cy="0"/>
          </a:xfrm>
          <a:prstGeom prst="line">
            <a:avLst/>
          </a:prstGeom>
          <a:noFill/>
          <a:ln w="12700">
            <a:solidFill>
              <a:srgbClr val="D5DB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3794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legitimate  (284,315)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fraudulent  (492)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52360" y="4892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why stratified sampling and non-accuracy metrics are essential throughout the pipeline.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Trained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284,807 rows; check types, nulls, stats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0" y="24460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Imbalance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0.17% fraud rate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24460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820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X (inputs) from y (Class label)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178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split, fraud ratio preserved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23360" y="46863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38912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257800" y="4178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Clean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Amount; drop Time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63840" y="46863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22960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/>
        </p:spPr>
      </p:sp>
      <p:sp>
        <p:nvSpPr>
          <p:cNvPr id="34" name="Shape 32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98280" y="4178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5820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models; score with precision &amp; recall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Data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SPLIT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58444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407408" y="2423160"/>
            <a:ext cx="896112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80%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same 0.17% fraud ratio in both the training and test sets.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random_state = 42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split is reproducible every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4663440" cy="0"/>
          </a:xfrm>
          <a:prstGeom prst="line">
            <a:avLst/>
          </a:prstGeom>
          <a:noFill/>
          <a:ln w="12700">
            <a:solidFill>
              <a:srgbClr val="D5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56,962 transactions, including 98 fraud cases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14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up to ~$25,000 while V1–V28 are already small, normalized values — so Amount is rescaled with StandardScaler to match.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7033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fit_transform()  →  training data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transform()  →  test data only (never fit)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9377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scaler on test data would let the model "peek" at information it shouldn't have — a subtle but common source of inflated results.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5806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dropped from both sets — it doesn't carry predictive signal here.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fast baseline classifier — a natural first attempt.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56,851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DEEEC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632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DEE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47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33375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E8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3447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632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Legit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Fraud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THE FRAUD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2402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31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2402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2331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96112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of 98 </a:t>
            </a:r>
            <a:pPr indent="0" marL="0">
              <a:buNone/>
            </a:pPr>
            <a:r>
              <a:rPr lang="en-US" sz="14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caught in the test set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5120640" cy="0"/>
          </a:xfrm>
          <a:prstGeom prst="line">
            <a:avLst/>
          </a:prstGeom>
          <a:noFill/>
          <a:ln w="12700">
            <a:solidFill>
              <a:srgbClr val="D5DB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526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solid starting point, but it misses more than a third of real fraud cases — room for a stronger model.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Random Forest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100 decision trees, built to capture more complex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56,859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DEEEC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632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DEE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47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33375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E8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3447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632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Legit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Fraud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THE FRAUD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2402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2A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31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2402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2A9D74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2331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96112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of 98 </a:t>
            </a:r>
            <a:pPr indent="0" marL="0">
              <a:buNone/>
            </a:pPr>
            <a:r>
              <a:rPr lang="en-US" sz="14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caught in the test set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5120640" cy="0"/>
          </a:xfrm>
          <a:prstGeom prst="line">
            <a:avLst/>
          </a:prstGeom>
          <a:noFill/>
          <a:ln w="12700">
            <a:solidFill>
              <a:srgbClr val="D5DB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526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catches 18 more frauds than Logistic Regression while cutting false alarms more than half.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 on Every Metric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00200"/>
            <a:ext cx="44348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600200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441180" y="1600200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49890" y="1600200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23760" y="2167128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60920" y="2167128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 caught /98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41180" y="2167128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49890" y="2167128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2734056"/>
            <a:ext cx="4434840" cy="566928"/>
          </a:xfrm>
          <a:prstGeom prst="rect">
            <a:avLst/>
          </a:prstGeom>
          <a:solidFill>
            <a:srgbClr val="F6F8FC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2734056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 missed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41180" y="2734056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49890" y="2734056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23760" y="3300984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3300984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41180" y="3300984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49890" y="3300984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23760" y="3867912"/>
            <a:ext cx="4434840" cy="566928"/>
          </a:xfrm>
          <a:prstGeom prst="rect">
            <a:avLst/>
          </a:prstGeom>
          <a:solidFill>
            <a:srgbClr val="F6F8FC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60920" y="3867912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441180" y="3867912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49890" y="3867912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23760" y="443484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4434840"/>
            <a:ext cx="20802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441180" y="4434840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549890" y="4434840"/>
            <a:ext cx="11087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Tell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frauds caught by Random Forest — recall jumped from 64% to 83%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20116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0916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 with Random Forest — down from 13 to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0116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54964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Random Forest improved precision AND recall simultaneously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not just "better on average" — it dominates Logistic Regression on every reported metric, making it the clear choice for this task.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are anonymized — no way to interpret which real attributes drive predictions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resampling (SMOTE) or class-weighting applied to the imbalance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8587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default hyperparameters used — no tuning or cross-validation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6360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threshold left at the default 0.5 cutoff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41B45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2377440"/>
            <a:ext cx="292608" cy="292608"/>
          </a:xfrm>
          <a:prstGeom prst="ellipse">
            <a:avLst/>
          </a:prstGeom>
          <a:solidFill>
            <a:srgbClr val="2A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3042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class-weighting for a more direct fix to the imbalance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292608" cy="292608"/>
          </a:xfrm>
          <a:prstGeom prst="ellipse">
            <a:avLst/>
          </a:prstGeom>
          <a:solidFill>
            <a:srgbClr val="2A9D74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0815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GridSearchCV / RandomizedSearchCV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931920"/>
            <a:ext cx="292608" cy="292608"/>
          </a:xfrm>
          <a:prstGeom prst="ellipse">
            <a:avLst/>
          </a:prstGeom>
          <a:solidFill>
            <a:srgbClr val="2A9D74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8587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ROC-AUC and Precision-Recall AUC, more informative on imbalanced data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4709160"/>
            <a:ext cx="292608" cy="292608"/>
          </a:xfrm>
          <a:prstGeom prst="ellipse">
            <a:avLst/>
          </a:prstGeom>
          <a:solidFill>
            <a:srgbClr val="2A9D74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46360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XGBoost / LightGBM, and explore threshold tuning for the precision/recall trade-off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Fraud-Detection Pipeline, End to 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284,807 raw transactions with a 0.17% fraud rate, this project built, evaluated, and compared two classifiers — landing on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clear winner: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A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recall at 94% precision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fraud class.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/ 98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 caught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4297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4297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2026-09-08T09:50:59Z</dcterms:created>
  <dcterms:modified xsi:type="dcterms:W3CDTF">2026-09-08T09:50:59Z</dcterms:modified>
</cp:coreProperties>
</file>