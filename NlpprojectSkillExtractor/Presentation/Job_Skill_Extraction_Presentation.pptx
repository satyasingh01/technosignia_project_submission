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UX/UI Designer</c:v>
                </c:pt>
                <c:pt idx="1">
                  <c:v>Software Engineer</c:v>
                </c:pt>
                <c:pt idx="2">
                  <c:v>Digital Marketing Specialist</c:v>
                </c:pt>
                <c:pt idx="3">
                  <c:v>Network Engineer</c:v>
                </c:pt>
                <c:pt idx="4">
                  <c:v>Procurement Manager</c:v>
                </c:pt>
                <c:pt idx="5">
                  <c:v>Customer Support Specialist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154</c:v>
                </c:pt>
                <c:pt idx="1">
                  <c:v>87</c:v>
                </c:pt>
                <c:pt idx="2">
                  <c:v>85</c:v>
                </c:pt>
                <c:pt idx="3">
                  <c:v>69</c:v>
                </c:pt>
                <c:pt idx="4">
                  <c:v>68</c:v>
                </c:pt>
                <c:pt idx="5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14-4327-B54C-33BC9AC5B3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data</c:v>
                </c:pt>
                <c:pt idx="1">
                  <c:v>user</c:v>
                </c:pt>
                <c:pt idx="2">
                  <c:v>support</c:v>
                </c:pt>
                <c:pt idx="3">
                  <c:v>design</c:v>
                </c:pt>
                <c:pt idx="4">
                  <c:v>manage</c:v>
                </c:pt>
                <c:pt idx="5">
                  <c:v>develop</c:v>
                </c:pt>
                <c:pt idx="6">
                  <c:v>financial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982</c:v>
                </c:pt>
                <c:pt idx="1">
                  <c:v>806</c:v>
                </c:pt>
                <c:pt idx="2">
                  <c:v>743</c:v>
                </c:pt>
                <c:pt idx="3">
                  <c:v>674</c:v>
                </c:pt>
                <c:pt idx="4">
                  <c:v>608</c:v>
                </c:pt>
                <c:pt idx="5">
                  <c:v>604</c:v>
                </c:pt>
                <c:pt idx="6">
                  <c:v>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CF-44BC-AA3D-711ED90345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732</c:v>
                </c:pt>
                <c:pt idx="1">
                  <c:v>2521</c:v>
                </c:pt>
                <c:pt idx="2">
                  <c:v>1747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B3-4DBE-9AFA-DA82D993D8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Taxonomy</c:v>
                </c:pt>
                <c:pt idx="1">
                  <c:v>spaCy Matcher</c:v>
                </c:pt>
                <c:pt idx="2">
                  <c:v>Transformer
(pretrained)</c:v>
                </c:pt>
                <c:pt idx="3">
                  <c:v>Transformer
(fine-tuned)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</c:v>
                </c:pt>
                <c:pt idx="1">
                  <c:v>0.66</c:v>
                </c:pt>
                <c:pt idx="2">
                  <c:v>0</c:v>
                </c:pt>
                <c:pt idx="3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46-4AB6-AEF1-D451EFC4B3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Taxonomy</c:v>
                </c:pt>
                <c:pt idx="1">
                  <c:v>spaCy Matcher</c:v>
                </c:pt>
                <c:pt idx="2">
                  <c:v>Transformer
(pretrained)</c:v>
                </c:pt>
                <c:pt idx="3">
                  <c:v>Transformer
(fine-tuned)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0.44</c:v>
                </c:pt>
                <c:pt idx="1">
                  <c:v>0.47</c:v>
                </c:pt>
                <c:pt idx="2">
                  <c:v>0</c:v>
                </c:pt>
                <c:pt idx="3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46-4AB6-AEF1-D451EFC4B3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Taxonomy</c:v>
                </c:pt>
                <c:pt idx="1">
                  <c:v>spaCy Matcher</c:v>
                </c:pt>
                <c:pt idx="2">
                  <c:v>Transformer
(pretrained)</c:v>
                </c:pt>
                <c:pt idx="3">
                  <c:v>Transformer
(fine-tuned)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0.53</c:v>
                </c:pt>
                <c:pt idx="1">
                  <c:v>0.55000000000000004</c:v>
                </c:pt>
                <c:pt idx="2">
                  <c:v>0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46-4AB6-AEF1-D451EFC4B3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79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MENTOR-GUIDED INTERNSHIP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Skill Extraction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NLP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5,000 unstructured job postings into a structured, searchable skill taxonomy — from rule-based matching to a fine-tuned transformer, evaluated end-to-end and shipped as a working app.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16636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349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Singh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skills live in free text, not in fields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describe required skills in unstructured paragraphs. Recruiters, job seekers, and workforce analysts all need those skills in structured form — but reading and tagging postings by hand doesn't scale, and it's inconsistent from one reviewer to the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950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reading 5,000+ postings to tag skills is not feasible at scale.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8188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reviewers extract different skills from the same text.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Unsearchable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5687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can't be filtered, counted, or trended without structure.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169164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0664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JOB DESCRIPTION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2860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looking for a Data Analyst with strong experience in Python, SQL, Power BI, AWS and PostgreSQL to support reporting and dashboards…”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3886200"/>
            <a:ext cx="38404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40664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NEED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4343400"/>
            <a:ext cx="923544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06640" y="4343400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67344" y="4343400"/>
            <a:ext cx="621792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67344" y="434340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26296" y="4343400"/>
            <a:ext cx="1124712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26296" y="4343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88168" y="4343400"/>
            <a:ext cx="621792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88168" y="434340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480060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6640" y="4800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extraction engine, three audiences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 postings with structured skills so listings become filterable and searchable instead of free text.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057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Seekers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resume against a posting's extracted skills to see exactly where the gap 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205740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Analysts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extracted skills across thousands of postings to see which skills are rising in demand.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extraction pipeline, three downstream products: an application, an analytics dashboard, and a skills taxonomy.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real job postings, 23 fields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2331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828800"/>
            <a:ext cx="2331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377440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828800"/>
            <a:ext cx="2331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377440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job titles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7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828800"/>
            <a:ext cx="2331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2021–2023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377440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date range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job titles by posting count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3383280"/>
          <a:ext cx="57607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58368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captured per posting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3429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job_title · role · job_description · responsibilities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4050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43251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 · experience · skills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4672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4946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work_type · salary_range · location · country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52943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55686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· company_size · company_profile · benefits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83680" y="598932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766560" y="59893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are templated: the same wording repeats across many postings for a given role.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before extraction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&amp; Duplicate Check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every column for nulls; checked job_id for duplicate postings.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4F7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423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Standardization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normalized to lowercase snake_case for consistent access.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423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Parsing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job_posting_date parsed to datetime; posting_year extracted for trend analysis.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423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Normalization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lowercased, punctuation and stopwords stripped for EDA and matching.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mattered later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4406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dataset's heavy templating — identical description text reused across many postings — wasn't just a cleaning note. It turned out to be the root cause of a major modeling bug found later (Slide 12).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descriptions look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95144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words / posting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16916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08960" y="182880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295144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characters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6916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182880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295144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sentences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frequent words (post-cleaning)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57200" y="3246120"/>
          <a:ext cx="539496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309360" y="2926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Postings by year</a:t>
            </a:r>
            <a:endParaRPr lang="en-US" sz="140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6217920" y="3246120"/>
          <a:ext cx="539496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extraction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2C3A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Text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tokenize descriptions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0632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2C3A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07792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Match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3291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regex + spaCy PhraseMatcher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92624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2C3A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29784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29784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/ Transformer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29784" y="3291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classifier + fine-tuned NER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14616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2C3A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51776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3291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vs. labeled sample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36608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73768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573768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73768" y="3291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dashboard + app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extraction methods were built and compared head-to-head (Slides 8–11) before choosing what to ship.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&amp;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skill matching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skill taxonomy was built by hand and matched against every description two ways: exact-phrase regex, and a spaCy PhraseMatcher for a second, independent pass over the same vocabulary.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3017520"/>
            <a:ext cx="16459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11296"/>
            <a:ext cx="164592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8803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0" y="3017520"/>
            <a:ext cx="16459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368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511296"/>
            <a:ext cx="164592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skills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8803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3017520"/>
            <a:ext cx="16459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1,166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511296"/>
            <a:ext cx="164592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 indexed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match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6177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“...experience in </a:t>
            </a: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BI</a:t>
            </a:r>
            <a:r>
              <a:rPr lang="en-US" sz="105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...”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canonical_skill: "Power BI", category: "Business Intelligence"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canonical_skill: "PostgreSQL", category: "Database"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691640"/>
            <a:ext cx="4754880" cy="4251960"/>
          </a:xfrm>
          <a:prstGeom prst="roundRect">
            <a:avLst>
              <a:gd name="adj" fmla="val 2151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240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— millisecond inference, no GPU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explainable — exact synonym that matched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training data required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78040" y="3566160"/>
            <a:ext cx="41148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0233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catches wording already in the taxonomy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Misses paraphrased or novel phrasing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Taxonomy must be maintained by hand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+ Logistic Regression classifier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was trained to predict skill category from description text using TF-IDF features.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BEA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— 100% test accuracy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train/test split let identical, templated description text land on both sides — the model memorized text→label pairs instead of learning.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48463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tested on a genuinely novel sentence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343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“Python developer... Django, REST API”
</a:t>
            </a:r>
            <a:r>
              <a:rPr lang="en-US" sz="110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predicted: </a:t>
            </a:r>
            <a:r>
              <a:rPr lang="en-US" sz="11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“UI/UX Design” </a:t>
            </a:r>
            <a:r>
              <a:rPr lang="en-US" sz="110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(25% confidence)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E3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— group-aware split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880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GroupShuffleSplit keyed on the description text itself — every duplicate of a template now stays entirely in train or entirely in test.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886200"/>
            <a:ext cx="48463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built into the notebook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343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check confirms zero description templates appear in both train and test — leakage is provably closed, not just assumed fixed.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extraction to a fine-tuned NER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Pretrained dslim/distilbert-NER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model — only knows PERSON / ORG / LOC / MISC. No SKILL entity type exists.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93776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937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skills extracted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Supervision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246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regex spans auto-generate BIO labels (B-SKILL / I-SKILL / O) — no manual annotation needed.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493776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4937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training data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12480" y="17373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4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Model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3246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fine-tuned as a token classifier on the auto-labeled spans, with a real SKILL entity head.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0" y="493776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0" y="4937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extraction capability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methods, evaluated on the same labeled sample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on a 100-row hand-labeled evaluation set, scored against canonical taxonomy skill names.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57400"/>
          <a:ext cx="75895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205740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4964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spaCy</a:t>
            </a:r>
            <a:endParaRPr lang="en-US" sz="2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PhraseMatcher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0.55, narrowly ahead of the Taxonomy matcher (0.53). Both dictionary methods beat both transformer variants.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4572000"/>
            <a:ext cx="28346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4709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choice: union (ensemble) of Taxonomy + spaCy — they don't fully overlap, so combining raises recall further.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THE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bugs found and fixed along the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leakage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031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description templates split across train and test → fixed with GroupShuffleSplit.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71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346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had no SKILL class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54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NER only knows PERSON/ORG/LOC/MISC → fixed via weak-supervision fine-tuning.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8862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Mismatched evaluation samples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06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Day-14 and Day-15 samples were two different random draws merged incorrectly → 64% of rows had no ground truth → fixed by generating all predictions on one shared labeled sample.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937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Ground-truth vocabulary mismatch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2578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labels used different wording than the taxonomy's canonical names, deflating every method's score → fixed by relabeling against the real taxonomy vocabulary.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Job_Skill_Analytics.pbix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skills exported as one row per (job, skill) pair and visualized as a business dashboard.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423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4231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50592" y="2423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Skills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24231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79392" y="2423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Skill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33375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Job Role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33375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50592" y="33375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Skill Category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33375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79392" y="33375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Required Technology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937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20 Skills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ranked by mention count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48006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20440" y="4937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Demand by Job Role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role × skill, filterable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006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4937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Category Distribution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across taxonomy categories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560" y="48006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89720" y="4937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Trends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by posting year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5DD434-A32B-6AD8-AE2E-F98EAF129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32" y="2029968"/>
            <a:ext cx="5285988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9B348-3A27-6838-2856-2FA1A4F0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75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working web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2C3A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Loads the taxonomy once at startup, not per request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endpoint: POST /extract-skills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Taxonomy + spaCy union — the winning ensemble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Deployed independently (Render / Railway / Fly.io)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4297680"/>
            <a:ext cx="4572000" cy="1554480"/>
          </a:xfrm>
          <a:prstGeom prst="roundRect">
            <a:avLst>
              <a:gd name="adj" fmla="val 3529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4434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/extract-skills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"job_description": "..." }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892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"skills": [{"canonical_skill": "SQL",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"category": "Database"}, ...] 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description → get categorized skill chips 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2743200"/>
            <a:ext cx="4754880" cy="109728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5DC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880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 Data Analyst with SQL, Excel and Power BI experience...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4279392"/>
            <a:ext cx="667512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4279392"/>
            <a:ext cx="66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34072" y="427939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34072" y="42793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39912" y="4279392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39912" y="427939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3 skill(s).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534924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C3A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methods built &amp; compared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C3A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(spaCy PhraseMatcher)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C3A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web app (FastAPI + frontend)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C3A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dashboard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numbers, the real work was diagnostic: every headline metric in this project — the 100% classifier accuracy, the zero-extraction transformer, the 1.8% evaluation accuracy — turned out to be a bug, not a result. Tracing each one back to its root cause, fixing the pipeline, and re-measuring honestly is what made the final comparison trustworthy.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recommendation: ship the Taxonomy + spaCy ensemble now; keep improving the fine-tuned transformer in parallel.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019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Widen taxonomy coverage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591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still ~45% — use Day-16 false negatives to add missing synonyms.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659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9019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the transformer further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3591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epochs and more weakly-labeled spans; try a larger base model.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66160"/>
            <a:ext cx="411480" cy="4114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021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Resume-to-job matching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593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 from a resume and score the gap against a target posting.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566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5021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the deployment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9593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auth, rate limiting, and monitoring before opening the API publicly.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1663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023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multi-label classification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5595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all skill categories per posting, not just the dominant one.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49377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5166360"/>
            <a:ext cx="411480" cy="4114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1023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Skill-trend forecasting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5595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posting_date to project rising and declining skill demand over time.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1597</Words>
  <Application>Microsoft Office PowerPoint</Application>
  <PresentationFormat>Widescreen</PresentationFormat>
  <Paragraphs>280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Satyam Singh</cp:lastModifiedBy>
  <cp:revision>2</cp:revision>
  <dcterms:created xsi:type="dcterms:W3CDTF">2026-09-03T06:32:25Z</dcterms:created>
  <dcterms:modified xsi:type="dcterms:W3CDTF">2026-09-03T16:54:22Z</dcterms:modified>
</cp:coreProperties>
</file>